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9144000" cy="16256000"/>
  <p:embeddedFontLs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12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z27yieq4emig/mnt/agents/output/gestion_bancaire/images/5_Green_finance_background_Images_Free.png"/>
          <p:cNvPicPr>
            <a:picLocks noChangeAspect="1"/>
          </p:cNvPicPr>
          <p:nvPr/>
        </p:nvPicPr>
        <p:blipFill>
          <a:blip r:embed="rId3"/>
          <a:srcRect t="7869" b="786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D1117">
                  <a:alpha val="0"/>
                </a:srgbClr>
              </a:gs>
              <a:gs pos="35000">
                <a:srgbClr val="0D1117">
                  <a:alpha val="50000"/>
                </a:srgbClr>
              </a:gs>
              <a:gs pos="100000">
                <a:srgbClr val="0D1117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3048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2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PROJET EN </a:t>
            </a:r>
            <a:r>
              <a:rPr lang="en-US" sz="1400" kern="0" spc="20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LANGAGE C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858000" y="3492500"/>
            <a:ext cx="2540000" cy="25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37465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kern="0" spc="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DE GESTION BANCAIRE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6858000" y="4762500"/>
            <a:ext cx="2540000" cy="25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016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Système de gestion de comptes clients avec opérations bancaires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823200" y="584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84202" y="6072"/>
                </a:moveTo>
                <a:cubicBezTo>
                  <a:pt x="296704" y="-2024"/>
                  <a:pt x="312896" y="-2024"/>
                  <a:pt x="325398" y="6072"/>
                </a:cubicBezTo>
                <a:lnTo>
                  <a:pt x="592098" y="177522"/>
                </a:lnTo>
                <a:cubicBezTo>
                  <a:pt x="606266" y="186690"/>
                  <a:pt x="612815" y="204073"/>
                  <a:pt x="608052" y="220266"/>
                </a:cubicBezTo>
                <a:cubicBezTo>
                  <a:pt x="603290" y="236458"/>
                  <a:pt x="588407" y="247650"/>
                  <a:pt x="571500" y="247650"/>
                </a:cubicBezTo>
                <a:lnTo>
                  <a:pt x="533400" y="247650"/>
                </a:lnTo>
                <a:lnTo>
                  <a:pt x="533400" y="495300"/>
                </a:lnTo>
                <a:lnTo>
                  <a:pt x="594360" y="541020"/>
                </a:lnTo>
                <a:cubicBezTo>
                  <a:pt x="604004" y="548164"/>
                  <a:pt x="609600" y="559475"/>
                  <a:pt x="609600" y="571500"/>
                </a:cubicBezTo>
                <a:cubicBezTo>
                  <a:pt x="609600" y="592574"/>
                  <a:pt x="592574" y="609600"/>
                  <a:pt x="571500" y="609600"/>
                </a:cubicBezTo>
                <a:lnTo>
                  <a:pt x="38100" y="609600"/>
                </a:lnTo>
                <a:cubicBezTo>
                  <a:pt x="17026" y="609600"/>
                  <a:pt x="0" y="592574"/>
                  <a:pt x="0" y="571500"/>
                </a:cubicBezTo>
                <a:cubicBezTo>
                  <a:pt x="0" y="559475"/>
                  <a:pt x="5596" y="548164"/>
                  <a:pt x="15240" y="541020"/>
                </a:cubicBezTo>
                <a:lnTo>
                  <a:pt x="76200" y="495300"/>
                </a:lnTo>
                <a:lnTo>
                  <a:pt x="76200" y="495300"/>
                </a:lnTo>
                <a:lnTo>
                  <a:pt x="76200" y="247650"/>
                </a:lnTo>
                <a:lnTo>
                  <a:pt x="38100" y="247650"/>
                </a:lnTo>
                <a:cubicBezTo>
                  <a:pt x="21193" y="247650"/>
                  <a:pt x="6310" y="236458"/>
                  <a:pt x="1548" y="220266"/>
                </a:cubicBezTo>
                <a:cubicBezTo>
                  <a:pt x="-3215" y="204073"/>
                  <a:pt x="3334" y="186571"/>
                  <a:pt x="17502" y="177522"/>
                </a:cubicBezTo>
                <a:lnTo>
                  <a:pt x="284202" y="6072"/>
                </a:lnTo>
                <a:close/>
                <a:moveTo>
                  <a:pt x="400050" y="247650"/>
                </a:moveTo>
                <a:lnTo>
                  <a:pt x="400050" y="495300"/>
                </a:lnTo>
                <a:lnTo>
                  <a:pt x="476250" y="495300"/>
                </a:lnTo>
                <a:lnTo>
                  <a:pt x="476250" y="247650"/>
                </a:lnTo>
                <a:lnTo>
                  <a:pt x="400050" y="247650"/>
                </a:lnTo>
                <a:close/>
                <a:moveTo>
                  <a:pt x="266700" y="495300"/>
                </a:moveTo>
                <a:lnTo>
                  <a:pt x="342900" y="495300"/>
                </a:lnTo>
                <a:lnTo>
                  <a:pt x="342900" y="247650"/>
                </a:lnTo>
                <a:lnTo>
                  <a:pt x="266700" y="247650"/>
                </a:lnTo>
                <a:lnTo>
                  <a:pt x="266700" y="495300"/>
                </a:lnTo>
                <a:close/>
                <a:moveTo>
                  <a:pt x="133350" y="247650"/>
                </a:moveTo>
                <a:lnTo>
                  <a:pt x="133350" y="495300"/>
                </a:lnTo>
                <a:lnTo>
                  <a:pt x="209550" y="495300"/>
                </a:lnTo>
                <a:lnTo>
                  <a:pt x="209550" y="247650"/>
                </a:lnTo>
                <a:lnTo>
                  <a:pt x="133350" y="247650"/>
                </a:lnTo>
                <a:close/>
              </a:path>
            </a:pathLst>
          </a:custGeom>
          <a:solidFill>
            <a:srgbClr val="2D6A4F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4572000" cy="533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540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143000" y="3556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&amp; Architecture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4191000"/>
            <a:ext cx="381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Organisation des données avec typedef struct, tableau de clients et architecture modulaire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635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9" name="Shape 7"/>
          <p:cNvSpPr/>
          <p:nvPr/>
        </p:nvSpPr>
        <p:spPr>
          <a:xfrm>
            <a:off x="5842000" y="2032000"/>
            <a:ext cx="4572000" cy="533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3000" y="2540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223000" y="3556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Fonctionnalités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23000" y="4191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des comptes, opérations de dépôt, retrait et transfert de fonds entre clients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23000" y="635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146" y="93762"/>
                </a:moveTo>
                <a:cubicBezTo>
                  <a:pt x="15431" y="85368"/>
                  <a:pt x="15431" y="71795"/>
                  <a:pt x="22146" y="63490"/>
                </a:cubicBezTo>
                <a:lnTo>
                  <a:pt x="73581" y="-893"/>
                </a:lnTo>
                <a:cubicBezTo>
                  <a:pt x="80296" y="-9287"/>
                  <a:pt x="91154" y="-9287"/>
                  <a:pt x="97798" y="-893"/>
                </a:cubicBezTo>
                <a:cubicBezTo>
                  <a:pt x="104442" y="7501"/>
                  <a:pt x="104513" y="21074"/>
                  <a:pt x="97798" y="29379"/>
                </a:cubicBezTo>
                <a:lnTo>
                  <a:pt x="75652" y="57061"/>
                </a:lnTo>
                <a:lnTo>
                  <a:pt x="124016" y="57061"/>
                </a:lnTo>
                <a:lnTo>
                  <a:pt x="124016" y="57061"/>
                </a:lnTo>
                <a:lnTo>
                  <a:pt x="365689" y="57061"/>
                </a:lnTo>
                <a:cubicBezTo>
                  <a:pt x="390906" y="57061"/>
                  <a:pt x="411409" y="82689"/>
                  <a:pt x="411409" y="114211"/>
                </a:cubicBezTo>
                <a:lnTo>
                  <a:pt x="411409" y="273338"/>
                </a:lnTo>
                <a:lnTo>
                  <a:pt x="407765" y="268784"/>
                </a:lnTo>
                <a:cubicBezTo>
                  <a:pt x="387691" y="243691"/>
                  <a:pt x="355116" y="243691"/>
                  <a:pt x="335042" y="268784"/>
                </a:cubicBezTo>
                <a:cubicBezTo>
                  <a:pt x="315611" y="293072"/>
                  <a:pt x="314968" y="331827"/>
                  <a:pt x="333042" y="357098"/>
                </a:cubicBezTo>
                <a:lnTo>
                  <a:pt x="381405" y="357098"/>
                </a:lnTo>
                <a:lnTo>
                  <a:pt x="359259" y="329416"/>
                </a:lnTo>
                <a:cubicBezTo>
                  <a:pt x="352544" y="321022"/>
                  <a:pt x="352544" y="307449"/>
                  <a:pt x="359259" y="299145"/>
                </a:cubicBezTo>
                <a:cubicBezTo>
                  <a:pt x="365974" y="290840"/>
                  <a:pt x="376833" y="290751"/>
                  <a:pt x="383477" y="299145"/>
                </a:cubicBezTo>
                <a:lnTo>
                  <a:pt x="434912" y="363438"/>
                </a:lnTo>
                <a:cubicBezTo>
                  <a:pt x="441627" y="371832"/>
                  <a:pt x="441627" y="385405"/>
                  <a:pt x="434912" y="393710"/>
                </a:cubicBezTo>
                <a:lnTo>
                  <a:pt x="383477" y="458004"/>
                </a:lnTo>
                <a:cubicBezTo>
                  <a:pt x="376761" y="466398"/>
                  <a:pt x="365903" y="466398"/>
                  <a:pt x="359259" y="458004"/>
                </a:cubicBezTo>
                <a:cubicBezTo>
                  <a:pt x="352616" y="449610"/>
                  <a:pt x="352544" y="436037"/>
                  <a:pt x="359259" y="427732"/>
                </a:cubicBezTo>
                <a:lnTo>
                  <a:pt x="381405" y="400050"/>
                </a:lnTo>
                <a:lnTo>
                  <a:pt x="91297" y="400050"/>
                </a:lnTo>
                <a:cubicBezTo>
                  <a:pt x="66080" y="400050"/>
                  <a:pt x="45577" y="374422"/>
                  <a:pt x="45577" y="342900"/>
                </a:cubicBezTo>
                <a:lnTo>
                  <a:pt x="45577" y="183773"/>
                </a:lnTo>
                <a:lnTo>
                  <a:pt x="49220" y="188327"/>
                </a:lnTo>
                <a:cubicBezTo>
                  <a:pt x="69294" y="213420"/>
                  <a:pt x="101870" y="213420"/>
                  <a:pt x="121944" y="188327"/>
                </a:cubicBezTo>
                <a:cubicBezTo>
                  <a:pt x="141375" y="164038"/>
                  <a:pt x="142018" y="125284"/>
                  <a:pt x="123944" y="100013"/>
                </a:cubicBezTo>
                <a:lnTo>
                  <a:pt x="75581" y="100013"/>
                </a:lnTo>
                <a:lnTo>
                  <a:pt x="97727" y="127695"/>
                </a:lnTo>
                <a:cubicBezTo>
                  <a:pt x="104442" y="136088"/>
                  <a:pt x="104442" y="149662"/>
                  <a:pt x="97727" y="157966"/>
                </a:cubicBezTo>
                <a:cubicBezTo>
                  <a:pt x="91011" y="166271"/>
                  <a:pt x="80153" y="166360"/>
                  <a:pt x="73509" y="157966"/>
                </a:cubicBezTo>
                <a:lnTo>
                  <a:pt x="22146" y="93762"/>
                </a:lnTo>
                <a:close/>
                <a:moveTo>
                  <a:pt x="297180" y="228600"/>
                </a:moveTo>
                <a:cubicBezTo>
                  <a:pt x="297180" y="181287"/>
                  <a:pt x="266450" y="142875"/>
                  <a:pt x="228600" y="142875"/>
                </a:cubicBezTo>
                <a:cubicBezTo>
                  <a:pt x="190750" y="142875"/>
                  <a:pt x="160020" y="181287"/>
                  <a:pt x="160020" y="228600"/>
                </a:cubicBezTo>
                <a:cubicBezTo>
                  <a:pt x="160020" y="275913"/>
                  <a:pt x="190750" y="314325"/>
                  <a:pt x="228600" y="314325"/>
                </a:cubicBezTo>
                <a:cubicBezTo>
                  <a:pt x="266450" y="314325"/>
                  <a:pt x="297180" y="275913"/>
                  <a:pt x="297180" y="228600"/>
                </a:cubicBezTo>
                <a:close/>
                <a:moveTo>
                  <a:pt x="360045" y="171004"/>
                </a:moveTo>
                <a:cubicBezTo>
                  <a:pt x="363188" y="171450"/>
                  <a:pt x="365760" y="168235"/>
                  <a:pt x="365760" y="164306"/>
                </a:cubicBezTo>
                <a:lnTo>
                  <a:pt x="365760" y="121444"/>
                </a:lnTo>
                <a:cubicBezTo>
                  <a:pt x="365760" y="117515"/>
                  <a:pt x="363188" y="114300"/>
                  <a:pt x="360045" y="114300"/>
                </a:cubicBezTo>
                <a:lnTo>
                  <a:pt x="325755" y="114300"/>
                </a:lnTo>
                <a:cubicBezTo>
                  <a:pt x="322612" y="114300"/>
                  <a:pt x="319969" y="117515"/>
                  <a:pt x="320397" y="121444"/>
                </a:cubicBezTo>
                <a:cubicBezTo>
                  <a:pt x="322969" y="147340"/>
                  <a:pt x="339400" y="167789"/>
                  <a:pt x="360045" y="171004"/>
                </a:cubicBezTo>
                <a:close/>
                <a:moveTo>
                  <a:pt x="97155" y="286196"/>
                </a:moveTo>
                <a:cubicBezTo>
                  <a:pt x="94012" y="285750"/>
                  <a:pt x="91440" y="288965"/>
                  <a:pt x="91440" y="292894"/>
                </a:cubicBezTo>
                <a:lnTo>
                  <a:pt x="91440" y="335756"/>
                </a:lnTo>
                <a:cubicBezTo>
                  <a:pt x="91440" y="339685"/>
                  <a:pt x="94012" y="342900"/>
                  <a:pt x="97155" y="342900"/>
                </a:cubicBezTo>
                <a:lnTo>
                  <a:pt x="131445" y="342900"/>
                </a:lnTo>
                <a:cubicBezTo>
                  <a:pt x="134588" y="342900"/>
                  <a:pt x="137231" y="339685"/>
                  <a:pt x="136803" y="335756"/>
                </a:cubicBezTo>
                <a:cubicBezTo>
                  <a:pt x="134231" y="309860"/>
                  <a:pt x="117800" y="289411"/>
                  <a:pt x="97155" y="286196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22000" y="2032000"/>
            <a:ext cx="4572000" cy="533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03000" y="2540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11303000" y="3556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Persistance &amp; Interface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303000" y="4191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Sauvegarde binaire des données, menu interactif et interface utilisateur en console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303000" y="635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154751"/>
                </a:lnTo>
                <a:cubicBezTo>
                  <a:pt x="457200" y="139571"/>
                  <a:pt x="450362" y="125016"/>
                  <a:pt x="438116" y="114300"/>
                </a:cubicBezTo>
                <a:lnTo>
                  <a:pt x="359229" y="45274"/>
                </a:lnTo>
                <a:cubicBezTo>
                  <a:pt x="346982" y="34558"/>
                  <a:pt x="330347" y="28575"/>
                  <a:pt x="312998" y="28575"/>
                </a:cubicBezTo>
                <a:lnTo>
                  <a:pt x="65314" y="28575"/>
                </a:lnTo>
                <a:close/>
                <a:moveTo>
                  <a:pt x="97971" y="114300"/>
                </a:moveTo>
                <a:cubicBezTo>
                  <a:pt x="97971" y="98494"/>
                  <a:pt x="112565" y="85725"/>
                  <a:pt x="130629" y="85725"/>
                </a:cubicBezTo>
                <a:lnTo>
                  <a:pt x="293914" y="85725"/>
                </a:lnTo>
                <a:cubicBezTo>
                  <a:pt x="311978" y="85725"/>
                  <a:pt x="326571" y="98494"/>
                  <a:pt x="326571" y="114300"/>
                </a:cubicBezTo>
                <a:lnTo>
                  <a:pt x="326571" y="171450"/>
                </a:lnTo>
                <a:cubicBezTo>
                  <a:pt x="326571" y="187256"/>
                  <a:pt x="311978" y="200025"/>
                  <a:pt x="293914" y="200025"/>
                </a:cubicBezTo>
                <a:lnTo>
                  <a:pt x="130629" y="200025"/>
                </a:lnTo>
                <a:cubicBezTo>
                  <a:pt x="112565" y="200025"/>
                  <a:pt x="97971" y="187256"/>
                  <a:pt x="97971" y="171450"/>
                </a:cubicBezTo>
                <a:lnTo>
                  <a:pt x="97971" y="114300"/>
                </a:lnTo>
                <a:close/>
                <a:moveTo>
                  <a:pt x="228600" y="257175"/>
                </a:moveTo>
                <a:cubicBezTo>
                  <a:pt x="264648" y="257175"/>
                  <a:pt x="293914" y="282783"/>
                  <a:pt x="293914" y="314325"/>
                </a:cubicBezTo>
                <a:cubicBezTo>
                  <a:pt x="293914" y="345867"/>
                  <a:pt x="264648" y="371475"/>
                  <a:pt x="228600" y="371475"/>
                </a:cubicBezTo>
                <a:cubicBezTo>
                  <a:pt x="192552" y="371475"/>
                  <a:pt x="163286" y="345867"/>
                  <a:pt x="163286" y="314325"/>
                </a:cubicBezTo>
                <a:cubicBezTo>
                  <a:pt x="163286" y="282783"/>
                  <a:pt x="192552" y="257175"/>
                  <a:pt x="228600" y="257175"/>
                </a:cubicBezTo>
                <a:close/>
              </a:path>
            </a:pathLst>
          </a:custGeom>
          <a:solidFill>
            <a:srgbClr val="2D6A4F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z27yieq4emig/mnt/agents/output/gestion_bancaire/images/2_Programming_background_dark_Images.png"/>
          <p:cNvPicPr>
            <a:picLocks noChangeAspect="1"/>
          </p:cNvPicPr>
          <p:nvPr/>
        </p:nvPicPr>
        <p:blipFill>
          <a:blip r:embed="rId3"/>
          <a:srcRect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D1117">
                  <a:alpha val="90000"/>
                </a:srgbClr>
              </a:gs>
              <a:gs pos="60000">
                <a:srgbClr val="0D1117">
                  <a:alpha val="80000"/>
                </a:srgbClr>
              </a:gs>
              <a:gs pos="100000">
                <a:srgbClr val="0D1117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kern="0" spc="400" dirty="0">
                <a:solidFill>
                  <a:srgbClr val="409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762000" y="3746500"/>
            <a:ext cx="1016000" cy="50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000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&amp; Architecture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Organisation des données et architecture du programme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50800" cy="406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de Données — Le Client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6858000" cy="508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625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Structure du compte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1968500"/>
            <a:ext cx="6350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typedef</a:t>
            </a: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struct {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int num;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char nom[</a:t>
            </a:r>
            <a:r>
              <a:rPr lang="en-US" sz="1600" dirty="0">
                <a:solidFill>
                  <a:srgbClr val="79C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char prenom[</a:t>
            </a:r>
            <a:r>
              <a:rPr lang="en-US" sz="1600" dirty="0">
                <a:solidFill>
                  <a:srgbClr val="79C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float solde;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char dateCreation[</a:t>
            </a:r>
            <a:r>
              <a:rPr lang="en-US" sz="1600" dirty="0">
                <a:solidFill>
                  <a:srgbClr val="79C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</a:t>
            </a: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 algn="l">
              <a:lnSpc>
                <a:spcPct val="150000"/>
              </a:lnSpc>
            </a:pP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</a:t>
            </a: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banque[</a:t>
            </a:r>
            <a:r>
              <a:rPr lang="en-US" sz="1600" dirty="0">
                <a:solidFill>
                  <a:srgbClr val="79C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</a:t>
            </a: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total = </a:t>
            </a:r>
            <a:r>
              <a:rPr lang="en-US" sz="1600" dirty="0">
                <a:solidFill>
                  <a:srgbClr val="79C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0" y="1524000"/>
            <a:ext cx="7366000" cy="508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9000" y="177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kern="0" spc="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 des champs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09000" y="2349500"/>
            <a:ext cx="6604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</a:t>
            </a: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Identifiant unique du compte (entier)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</a:t>
            </a: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Nom du client (chaîne 50 caractères)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prenom</a:t>
            </a: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Prénom du client (chaîne 50 caractères)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solde</a:t>
            </a: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Montant disponible en MAD (décimal)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dateCreation</a:t>
            </a: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Date d'ouverture du compte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2400"/>
              </a:spcBef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tableau </a:t>
            </a:r>
            <a:r>
              <a:rPr lang="en-US" sz="18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banque[1000]</a:t>
            </a: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stocke jusqu'à 1000 clients. La variable </a:t>
            </a:r>
            <a:r>
              <a:rPr lang="en-US" sz="18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</a:t>
            </a: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compte les comptes actifs.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8382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&amp;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986000" y="8382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50800" cy="406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du Programme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5200" y="1270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fonctions organisées en 3 catégories fonctionnelles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4699000" cy="5969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222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kern="0" spc="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Utilisateur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794000"/>
            <a:ext cx="4191000" cy="501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titre()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Efface l'écran et affiche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l'en-tête de l'application</a:t>
            </a:r>
            <a:endParaRPr lang="en-US" sz="15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menu()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Boucle principale do-while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avec switch-case</a:t>
            </a:r>
            <a:endParaRPr lang="en-US" sz="15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interfaceGraphique()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Affiche les options [0-9]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en grille formatée</a:t>
            </a:r>
            <a:endParaRPr lang="en-US" sz="15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attendre()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Pause avec getchar()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78500" y="1968500"/>
            <a:ext cx="4699000" cy="5969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25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1084" y="146199"/>
                </a:moveTo>
                <a:cubicBezTo>
                  <a:pt x="237863" y="143907"/>
                  <a:pt x="244975" y="147935"/>
                  <a:pt x="248031" y="155783"/>
                </a:cubicBezTo>
                <a:lnTo>
                  <a:pt x="258366" y="181898"/>
                </a:lnTo>
                <a:cubicBezTo>
                  <a:pt x="264089" y="182870"/>
                  <a:pt x="269700" y="184815"/>
                  <a:pt x="274979" y="187523"/>
                </a:cubicBezTo>
                <a:lnTo>
                  <a:pt x="294426" y="171341"/>
                </a:lnTo>
                <a:cubicBezTo>
                  <a:pt x="300260" y="166479"/>
                  <a:pt x="307983" y="167451"/>
                  <a:pt x="312928" y="173633"/>
                </a:cubicBezTo>
                <a:lnTo>
                  <a:pt x="323596" y="186968"/>
                </a:lnTo>
                <a:cubicBezTo>
                  <a:pt x="328541" y="193149"/>
                  <a:pt x="329319" y="202873"/>
                  <a:pt x="325430" y="210096"/>
                </a:cubicBezTo>
                <a:lnTo>
                  <a:pt x="312483" y="234335"/>
                </a:lnTo>
                <a:cubicBezTo>
                  <a:pt x="313539" y="237599"/>
                  <a:pt x="314484" y="241002"/>
                  <a:pt x="315262" y="244544"/>
                </a:cubicBezTo>
                <a:cubicBezTo>
                  <a:pt x="316039" y="248087"/>
                  <a:pt x="316540" y="251559"/>
                  <a:pt x="316928" y="255101"/>
                </a:cubicBezTo>
                <a:lnTo>
                  <a:pt x="337876" y="268020"/>
                </a:lnTo>
                <a:cubicBezTo>
                  <a:pt x="344154" y="271909"/>
                  <a:pt x="347377" y="280799"/>
                  <a:pt x="345543" y="289203"/>
                </a:cubicBezTo>
                <a:lnTo>
                  <a:pt x="341654" y="307400"/>
                </a:lnTo>
                <a:cubicBezTo>
                  <a:pt x="339820" y="315803"/>
                  <a:pt x="333542" y="321499"/>
                  <a:pt x="326541" y="320943"/>
                </a:cubicBezTo>
                <a:lnTo>
                  <a:pt x="303205" y="319068"/>
                </a:lnTo>
                <a:cubicBezTo>
                  <a:pt x="299704" y="324693"/>
                  <a:pt x="295648" y="329902"/>
                  <a:pt x="291036" y="334347"/>
                </a:cubicBezTo>
                <a:lnTo>
                  <a:pt x="292537" y="363448"/>
                </a:lnTo>
                <a:cubicBezTo>
                  <a:pt x="292981" y="372199"/>
                  <a:pt x="288425" y="380117"/>
                  <a:pt x="281702" y="382339"/>
                </a:cubicBezTo>
                <a:lnTo>
                  <a:pt x="267145" y="387201"/>
                </a:lnTo>
                <a:cubicBezTo>
                  <a:pt x="260366" y="389493"/>
                  <a:pt x="253309" y="385465"/>
                  <a:pt x="250198" y="377617"/>
                </a:cubicBezTo>
                <a:lnTo>
                  <a:pt x="239863" y="351502"/>
                </a:lnTo>
                <a:cubicBezTo>
                  <a:pt x="234140" y="350530"/>
                  <a:pt x="228529" y="348585"/>
                  <a:pt x="223250" y="345877"/>
                </a:cubicBezTo>
                <a:lnTo>
                  <a:pt x="203803" y="362059"/>
                </a:lnTo>
                <a:cubicBezTo>
                  <a:pt x="197969" y="366921"/>
                  <a:pt x="190246" y="365949"/>
                  <a:pt x="185301" y="359767"/>
                </a:cubicBezTo>
                <a:lnTo>
                  <a:pt x="174633" y="346432"/>
                </a:lnTo>
                <a:cubicBezTo>
                  <a:pt x="169688" y="340251"/>
                  <a:pt x="168910" y="330597"/>
                  <a:pt x="172799" y="323304"/>
                </a:cubicBezTo>
                <a:lnTo>
                  <a:pt x="185745" y="298996"/>
                </a:lnTo>
                <a:cubicBezTo>
                  <a:pt x="184690" y="295731"/>
                  <a:pt x="183745" y="292328"/>
                  <a:pt x="182967" y="288786"/>
                </a:cubicBezTo>
                <a:cubicBezTo>
                  <a:pt x="182189" y="285244"/>
                  <a:pt x="181689" y="281702"/>
                  <a:pt x="181300" y="278229"/>
                </a:cubicBezTo>
                <a:lnTo>
                  <a:pt x="160353" y="265311"/>
                </a:lnTo>
                <a:cubicBezTo>
                  <a:pt x="154075" y="261422"/>
                  <a:pt x="150908" y="252532"/>
                  <a:pt x="152686" y="244128"/>
                </a:cubicBezTo>
                <a:lnTo>
                  <a:pt x="156575" y="225931"/>
                </a:lnTo>
                <a:cubicBezTo>
                  <a:pt x="158409" y="217527"/>
                  <a:pt x="164687" y="211832"/>
                  <a:pt x="171688" y="212388"/>
                </a:cubicBezTo>
                <a:lnTo>
                  <a:pt x="194969" y="214263"/>
                </a:lnTo>
                <a:cubicBezTo>
                  <a:pt x="198469" y="208637"/>
                  <a:pt x="202525" y="203428"/>
                  <a:pt x="207137" y="198983"/>
                </a:cubicBezTo>
                <a:lnTo>
                  <a:pt x="205637" y="169952"/>
                </a:lnTo>
                <a:cubicBezTo>
                  <a:pt x="205192" y="161201"/>
                  <a:pt x="209748" y="153283"/>
                  <a:pt x="216471" y="151061"/>
                </a:cubicBezTo>
                <a:lnTo>
                  <a:pt x="231029" y="146199"/>
                </a:lnTo>
                <a:close/>
                <a:moveTo>
                  <a:pt x="249142" y="236141"/>
                </a:moveTo>
                <a:cubicBezTo>
                  <a:pt x="235649" y="236160"/>
                  <a:pt x="224707" y="249869"/>
                  <a:pt x="224723" y="266735"/>
                </a:cubicBezTo>
                <a:cubicBezTo>
                  <a:pt x="224738" y="283601"/>
                  <a:pt x="235705" y="297279"/>
                  <a:pt x="249198" y="297259"/>
                </a:cubicBezTo>
                <a:cubicBezTo>
                  <a:pt x="262691" y="297240"/>
                  <a:pt x="273633" y="283531"/>
                  <a:pt x="273618" y="266665"/>
                </a:cubicBezTo>
                <a:cubicBezTo>
                  <a:pt x="273602" y="249799"/>
                  <a:pt x="262635" y="236121"/>
                  <a:pt x="249142" y="236141"/>
                </a:cubicBezTo>
                <a:close/>
                <a:moveTo>
                  <a:pt x="124960" y="-31601"/>
                </a:moveTo>
                <a:lnTo>
                  <a:pt x="139517" y="-26739"/>
                </a:lnTo>
                <a:cubicBezTo>
                  <a:pt x="146241" y="-24448"/>
                  <a:pt x="150797" y="-16530"/>
                  <a:pt x="150352" y="-7848"/>
                </a:cubicBezTo>
                <a:lnTo>
                  <a:pt x="148852" y="21183"/>
                </a:lnTo>
                <a:cubicBezTo>
                  <a:pt x="153464" y="25628"/>
                  <a:pt x="157520" y="30768"/>
                  <a:pt x="161020" y="36463"/>
                </a:cubicBezTo>
                <a:lnTo>
                  <a:pt x="184356" y="34588"/>
                </a:lnTo>
                <a:cubicBezTo>
                  <a:pt x="191302" y="34032"/>
                  <a:pt x="197636" y="39727"/>
                  <a:pt x="199469" y="48131"/>
                </a:cubicBezTo>
                <a:lnTo>
                  <a:pt x="203359" y="66328"/>
                </a:lnTo>
                <a:cubicBezTo>
                  <a:pt x="205137" y="74732"/>
                  <a:pt x="201970" y="83622"/>
                  <a:pt x="195691" y="87511"/>
                </a:cubicBezTo>
                <a:lnTo>
                  <a:pt x="174744" y="100429"/>
                </a:lnTo>
                <a:cubicBezTo>
                  <a:pt x="174355" y="103971"/>
                  <a:pt x="173800" y="107513"/>
                  <a:pt x="173077" y="110986"/>
                </a:cubicBezTo>
                <a:cubicBezTo>
                  <a:pt x="172355" y="114459"/>
                  <a:pt x="171355" y="117931"/>
                  <a:pt x="170299" y="121196"/>
                </a:cubicBezTo>
                <a:lnTo>
                  <a:pt x="183245" y="145504"/>
                </a:lnTo>
                <a:cubicBezTo>
                  <a:pt x="187135" y="152797"/>
                  <a:pt x="186357" y="162451"/>
                  <a:pt x="181412" y="168632"/>
                </a:cubicBezTo>
                <a:lnTo>
                  <a:pt x="170744" y="181967"/>
                </a:lnTo>
                <a:cubicBezTo>
                  <a:pt x="165799" y="188149"/>
                  <a:pt x="158075" y="189121"/>
                  <a:pt x="152241" y="184259"/>
                </a:cubicBezTo>
                <a:lnTo>
                  <a:pt x="132794" y="168077"/>
                </a:lnTo>
                <a:cubicBezTo>
                  <a:pt x="127516" y="170785"/>
                  <a:pt x="121904" y="172730"/>
                  <a:pt x="116181" y="173702"/>
                </a:cubicBezTo>
                <a:lnTo>
                  <a:pt x="105847" y="199817"/>
                </a:lnTo>
                <a:cubicBezTo>
                  <a:pt x="102735" y="207665"/>
                  <a:pt x="95623" y="211624"/>
                  <a:pt x="88900" y="209401"/>
                </a:cubicBezTo>
                <a:lnTo>
                  <a:pt x="74343" y="204539"/>
                </a:lnTo>
                <a:cubicBezTo>
                  <a:pt x="67564" y="202248"/>
                  <a:pt x="63063" y="194330"/>
                  <a:pt x="63508" y="185648"/>
                </a:cubicBezTo>
                <a:lnTo>
                  <a:pt x="65008" y="156547"/>
                </a:lnTo>
                <a:cubicBezTo>
                  <a:pt x="60396" y="152102"/>
                  <a:pt x="56340" y="146963"/>
                  <a:pt x="52840" y="141268"/>
                </a:cubicBezTo>
                <a:lnTo>
                  <a:pt x="29504" y="143143"/>
                </a:lnTo>
                <a:cubicBezTo>
                  <a:pt x="22558" y="143699"/>
                  <a:pt x="16224" y="138003"/>
                  <a:pt x="14391" y="129600"/>
                </a:cubicBezTo>
                <a:lnTo>
                  <a:pt x="10501" y="111403"/>
                </a:lnTo>
                <a:cubicBezTo>
                  <a:pt x="8723" y="102999"/>
                  <a:pt x="11890" y="94109"/>
                  <a:pt x="18169" y="90220"/>
                </a:cubicBezTo>
                <a:lnTo>
                  <a:pt x="39116" y="77301"/>
                </a:lnTo>
                <a:cubicBezTo>
                  <a:pt x="39505" y="73759"/>
                  <a:pt x="40061" y="70287"/>
                  <a:pt x="40783" y="66744"/>
                </a:cubicBezTo>
                <a:cubicBezTo>
                  <a:pt x="41561" y="63202"/>
                  <a:pt x="42450" y="59799"/>
                  <a:pt x="43561" y="56535"/>
                </a:cubicBezTo>
                <a:lnTo>
                  <a:pt x="30615" y="32296"/>
                </a:lnTo>
                <a:cubicBezTo>
                  <a:pt x="26726" y="25003"/>
                  <a:pt x="27503" y="15349"/>
                  <a:pt x="32448" y="9168"/>
                </a:cubicBezTo>
                <a:lnTo>
                  <a:pt x="43116" y="-4167"/>
                </a:lnTo>
                <a:cubicBezTo>
                  <a:pt x="48062" y="-10349"/>
                  <a:pt x="55785" y="-11321"/>
                  <a:pt x="61619" y="-6459"/>
                </a:cubicBezTo>
                <a:lnTo>
                  <a:pt x="81066" y="9723"/>
                </a:lnTo>
                <a:cubicBezTo>
                  <a:pt x="86344" y="7015"/>
                  <a:pt x="91956" y="5070"/>
                  <a:pt x="97679" y="4098"/>
                </a:cubicBezTo>
                <a:lnTo>
                  <a:pt x="108013" y="-22017"/>
                </a:lnTo>
                <a:cubicBezTo>
                  <a:pt x="111125" y="-29865"/>
                  <a:pt x="118181" y="-33824"/>
                  <a:pt x="124960" y="-31601"/>
                </a:cubicBezTo>
                <a:close/>
                <a:moveTo>
                  <a:pt x="106902" y="58341"/>
                </a:moveTo>
                <a:cubicBezTo>
                  <a:pt x="93409" y="58341"/>
                  <a:pt x="82455" y="72034"/>
                  <a:pt x="82455" y="88900"/>
                </a:cubicBezTo>
                <a:cubicBezTo>
                  <a:pt x="82455" y="105766"/>
                  <a:pt x="93409" y="119459"/>
                  <a:pt x="106902" y="119459"/>
                </a:cubicBezTo>
                <a:cubicBezTo>
                  <a:pt x="120395" y="119459"/>
                  <a:pt x="131350" y="105766"/>
                  <a:pt x="131350" y="88900"/>
                </a:cubicBezTo>
                <a:cubicBezTo>
                  <a:pt x="131350" y="72034"/>
                  <a:pt x="120395" y="58341"/>
                  <a:pt x="106902" y="58341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2222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kern="0" spc="1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Opérations Bancaires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2500" y="2794000"/>
            <a:ext cx="4191000" cy="501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trouverClient()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Recherche linéaire par numéro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Retourne l'index ou -1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ajouterClient()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Création avec vérification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d'unicité du numéro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faireDepot() / faireRetrait()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Mise à jour du solde avec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validations de montant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transfertMontant()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Virements entre deux comptes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supprimerCompte()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Suppression par décalage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voirSolde() / afficherClients()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68500"/>
            <a:ext cx="4699000" cy="5969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49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120362"/>
                </a:lnTo>
                <a:cubicBezTo>
                  <a:pt x="355600" y="108555"/>
                  <a:pt x="350282" y="97234"/>
                  <a:pt x="340757" y="88900"/>
                </a:cubicBezTo>
                <a:lnTo>
                  <a:pt x="279400" y="35213"/>
                </a:lnTo>
                <a:cubicBezTo>
                  <a:pt x="269875" y="26878"/>
                  <a:pt x="256937" y="22225"/>
                  <a:pt x="243443" y="22225"/>
                </a:cubicBezTo>
                <a:lnTo>
                  <a:pt x="50800" y="22225"/>
                </a:lnTo>
                <a:close/>
                <a:moveTo>
                  <a:pt x="76200" y="88900"/>
                </a:moveTo>
                <a:cubicBezTo>
                  <a:pt x="76200" y="76607"/>
                  <a:pt x="87551" y="66675"/>
                  <a:pt x="101600" y="66675"/>
                </a:cubicBezTo>
                <a:lnTo>
                  <a:pt x="228600" y="66675"/>
                </a:lnTo>
                <a:cubicBezTo>
                  <a:pt x="242649" y="66675"/>
                  <a:pt x="254000" y="76607"/>
                  <a:pt x="254000" y="88900"/>
                </a:cubicBezTo>
                <a:lnTo>
                  <a:pt x="254000" y="133350"/>
                </a:lnTo>
                <a:cubicBezTo>
                  <a:pt x="254000" y="145643"/>
                  <a:pt x="242649" y="155575"/>
                  <a:pt x="228600" y="155575"/>
                </a:cubicBezTo>
                <a:lnTo>
                  <a:pt x="101600" y="155575"/>
                </a:lnTo>
                <a:cubicBezTo>
                  <a:pt x="87551" y="155575"/>
                  <a:pt x="76200" y="145643"/>
                  <a:pt x="76200" y="133350"/>
                </a:cubicBezTo>
                <a:lnTo>
                  <a:pt x="76200" y="88900"/>
                </a:lnTo>
                <a:close/>
                <a:moveTo>
                  <a:pt x="177800" y="200025"/>
                </a:moveTo>
                <a:cubicBezTo>
                  <a:pt x="205837" y="200025"/>
                  <a:pt x="228600" y="219942"/>
                  <a:pt x="228600" y="244475"/>
                </a:cubicBezTo>
                <a:cubicBezTo>
                  <a:pt x="228600" y="269008"/>
                  <a:pt x="205837" y="288925"/>
                  <a:pt x="177800" y="288925"/>
                </a:cubicBezTo>
                <a:cubicBezTo>
                  <a:pt x="149763" y="288925"/>
                  <a:pt x="127000" y="269008"/>
                  <a:pt x="127000" y="244475"/>
                </a:cubicBezTo>
                <a:cubicBezTo>
                  <a:pt x="127000" y="219942"/>
                  <a:pt x="149763" y="200025"/>
                  <a:pt x="177800" y="200025"/>
                </a:cubicBezTo>
                <a:close/>
              </a:path>
            </a:pathLst>
          </a:custGeom>
          <a:solidFill>
            <a:srgbClr val="79C0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2222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kern="0" spc="100" dirty="0">
                <a:solidFill>
                  <a:srgbClr val="79C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Persistance des Données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049000" y="2794000"/>
            <a:ext cx="4191000" cy="501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sauvegarder()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Écriture binaire avec fwrite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Fichier : "banque C.txt"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charger()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Lecture binaire avec fread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Restauration en mémoire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24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Appel automatique au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démarrage dans main()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Sauvegarde automatique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à la sortie (option 0)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2000" y="8382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&amp; Architecture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986000" y="8382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z27yieq4emig/mnt/agents/output/gestion_bancaire/images/3_Financial_Background_Green_Images.png"/>
          <p:cNvPicPr>
            <a:picLocks noChangeAspect="1"/>
          </p:cNvPicPr>
          <p:nvPr/>
        </p:nvPicPr>
        <p:blipFill>
          <a:blip r:embed="rId3"/>
          <a:srcRect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D1117">
                  <a:alpha val="90000"/>
                </a:srgbClr>
              </a:gs>
              <a:gs pos="60000">
                <a:srgbClr val="0D1117">
                  <a:alpha val="80000"/>
                </a:srgbClr>
              </a:gs>
              <a:gs pos="100000">
                <a:srgbClr val="0D1117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kern="0" spc="400" dirty="0">
                <a:solidFill>
                  <a:srgbClr val="409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762000" y="3746500"/>
            <a:ext cx="1016000" cy="50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000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Fonctionnalités du Système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Opérations bancaires et gestion des comptes clients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50800" cy="406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Clients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239000" cy="6477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5621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ajouterClient()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1905000"/>
            <a:ext cx="673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(total &gt;= 1000) return;</a:t>
            </a: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plein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scanf("%d", &amp;numero);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(trouverClient(numero) != -1)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return;</a:t>
            </a: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existe déjà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banque[total].num = numero;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scanf("%s", banque[total].nom);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fgets(banque[total].prenom, 50, stdin);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scanf("%s", banque[total].dateCreation);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banque[total].solde = </a:t>
            </a:r>
            <a:r>
              <a:rPr lang="en-US" sz="1300" dirty="0">
                <a:solidFill>
                  <a:srgbClr val="79C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total++;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16000" y="5016500"/>
            <a:ext cx="6731000" cy="254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080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supprimerCompte()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397500"/>
            <a:ext cx="673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 = trouverClient(numero);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(i = pos; i &lt; total - 1; i++)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banque[i] = banque[i + 1];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total--;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16000" y="6858000"/>
            <a:ext cx="6731000" cy="254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69596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afficherClients()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6000" y="72644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printf("| %-15d | %-15s | ...", ...);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82000" y="1460500"/>
            <a:ext cx="7112000" cy="6477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kern="0" spc="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 clés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99500" y="2222500"/>
            <a:ext cx="6477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Ajout de client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Vérification de capacité (max 1000), vérification d'unicité du numéro, saisie sécurisée du prénom avec fgets et suppression du \n avec strcspn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15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Suppression de compte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Recherche par numéro, décalage des éléments du tableau vers la gauche pour combler le trou, décrémentation du compteur total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15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Affichage des clients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Formatage avec printf et spécificateurs de largeur (%-15s), affichage sous forme de tableau aligné avec en-tête décoratif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15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 utilitaire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trouverClient() effectue une recherche linéaire O(n) et retourne l'index ou -1 si introuvable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2000" y="8382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Fonctionnalités du Système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986000" y="8382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50800" cy="406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Opérations Bancaires — Dépôt &amp; Retrait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75500" cy="368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171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1422400" y="16891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faireDepot()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2159000"/>
            <a:ext cx="6667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 = trouverClient(numero);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(pos == -1) return;</a:t>
            </a:r>
            <a:endParaRPr lang="en-US" sz="1400" dirty="0"/>
          </a:p>
          <a:p>
            <a:pPr algn="l">
              <a:lnSpc>
                <a:spcPct val="155000"/>
              </a:lnSpc>
            </a:pP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scanf("%f", &amp;montant);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(montant &lt;= 0) return;</a:t>
            </a:r>
            <a:endParaRPr lang="en-US" sz="1400" dirty="0"/>
          </a:p>
          <a:p>
            <a:pPr algn="l">
              <a:lnSpc>
                <a:spcPct val="155000"/>
              </a:lnSpc>
            </a:pP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banque[pos].solde += montant;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printf("Dépôt réussi ! Nouveau solde : %.2f MAD",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banque[pos].solde);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18500" y="1524000"/>
            <a:ext cx="7175500" cy="3937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2500" y="171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0339" y="10358"/>
                </a:moveTo>
                <a:cubicBezTo>
                  <a:pt x="160417" y="2917"/>
                  <a:pt x="144304" y="2917"/>
                  <a:pt x="134382" y="10358"/>
                </a:cubicBezTo>
                <a:lnTo>
                  <a:pt x="7382" y="105608"/>
                </a:lnTo>
                <a:cubicBezTo>
                  <a:pt x="-2540" y="113050"/>
                  <a:pt x="-2540" y="125135"/>
                  <a:pt x="7382" y="132576"/>
                </a:cubicBezTo>
                <a:cubicBezTo>
                  <a:pt x="17304" y="140018"/>
                  <a:pt x="33417" y="140018"/>
                  <a:pt x="43339" y="132576"/>
                </a:cubicBezTo>
                <a:lnTo>
                  <a:pt x="127000" y="69830"/>
                </a:lnTo>
                <a:lnTo>
                  <a:pt x="127000" y="290513"/>
                </a:lnTo>
                <a:cubicBezTo>
                  <a:pt x="127000" y="301050"/>
                  <a:pt x="138351" y="309563"/>
                  <a:pt x="152400" y="309563"/>
                </a:cubicBezTo>
                <a:cubicBezTo>
                  <a:pt x="166449" y="309563"/>
                  <a:pt x="177800" y="301050"/>
                  <a:pt x="177800" y="290513"/>
                </a:cubicBezTo>
                <a:lnTo>
                  <a:pt x="177800" y="69830"/>
                </a:lnTo>
                <a:lnTo>
                  <a:pt x="261461" y="132576"/>
                </a:lnTo>
                <a:cubicBezTo>
                  <a:pt x="271383" y="140018"/>
                  <a:pt x="287496" y="140018"/>
                  <a:pt x="297418" y="132576"/>
                </a:cubicBezTo>
                <a:cubicBezTo>
                  <a:pt x="307340" y="125135"/>
                  <a:pt x="307340" y="113050"/>
                  <a:pt x="297418" y="105608"/>
                </a:cubicBezTo>
                <a:lnTo>
                  <a:pt x="170418" y="10358"/>
                </a:ln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10" name="Text 8"/>
          <p:cNvSpPr/>
          <p:nvPr/>
        </p:nvSpPr>
        <p:spPr>
          <a:xfrm>
            <a:off x="8978900" y="16891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faireRetrait()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72500" y="2159000"/>
            <a:ext cx="6667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 = trouverClient(numero);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(pos == -1) return;</a:t>
            </a:r>
            <a:endParaRPr lang="en-US" sz="1400" dirty="0"/>
          </a:p>
          <a:p>
            <a:pPr algn="l">
              <a:lnSpc>
                <a:spcPct val="155000"/>
              </a:lnSpc>
            </a:pP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scanf("%f", &amp;montant);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(montant &lt;= 0 || solde &lt; montant)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return; </a:t>
            </a: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fonds insuffisants</a:t>
            </a:r>
            <a:endParaRPr lang="en-US" sz="1400" dirty="0"/>
          </a:p>
          <a:p>
            <a:pPr algn="l">
              <a:lnSpc>
                <a:spcPct val="155000"/>
              </a:lnSpc>
            </a:pP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banque[pos].solde -= montant;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printf("Retrait réussi ! Nouveau solde : %.2f MAD",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banque[pos].solde);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588000"/>
            <a:ext cx="7175500" cy="2349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19050"/>
                </a:moveTo>
                <a:cubicBezTo>
                  <a:pt x="109643" y="19050"/>
                  <a:pt x="75406" y="40957"/>
                  <a:pt x="50483" y="67032"/>
                </a:cubicBezTo>
                <a:cubicBezTo>
                  <a:pt x="25718" y="92928"/>
                  <a:pt x="9155" y="123825"/>
                  <a:pt x="1270" y="145078"/>
                </a:cubicBezTo>
                <a:cubicBezTo>
                  <a:pt x="-476" y="149781"/>
                  <a:pt x="-476" y="155019"/>
                  <a:pt x="1270" y="159722"/>
                </a:cubicBezTo>
                <a:cubicBezTo>
                  <a:pt x="9155" y="180975"/>
                  <a:pt x="25718" y="211931"/>
                  <a:pt x="50483" y="237768"/>
                </a:cubicBezTo>
                <a:cubicBezTo>
                  <a:pt x="75406" y="263783"/>
                  <a:pt x="109643" y="285750"/>
                  <a:pt x="152400" y="285750"/>
                </a:cubicBezTo>
                <a:cubicBezTo>
                  <a:pt x="195157" y="285750"/>
                  <a:pt x="229394" y="263843"/>
                  <a:pt x="254318" y="237768"/>
                </a:cubicBezTo>
                <a:cubicBezTo>
                  <a:pt x="279083" y="211872"/>
                  <a:pt x="295645" y="180975"/>
                  <a:pt x="303530" y="159722"/>
                </a:cubicBezTo>
                <a:cubicBezTo>
                  <a:pt x="305276" y="155019"/>
                  <a:pt x="305276" y="149781"/>
                  <a:pt x="303530" y="145078"/>
                </a:cubicBezTo>
                <a:cubicBezTo>
                  <a:pt x="295645" y="123825"/>
                  <a:pt x="279083" y="92869"/>
                  <a:pt x="254318" y="67032"/>
                </a:cubicBezTo>
                <a:cubicBezTo>
                  <a:pt x="229394" y="41017"/>
                  <a:pt x="195157" y="19050"/>
                  <a:pt x="152400" y="19050"/>
                </a:cubicBezTo>
                <a:close/>
                <a:moveTo>
                  <a:pt x="76200" y="152400"/>
                </a:moveTo>
                <a:cubicBezTo>
                  <a:pt x="76200" y="105087"/>
                  <a:pt x="110344" y="66675"/>
                  <a:pt x="152400" y="66675"/>
                </a:cubicBezTo>
                <a:cubicBezTo>
                  <a:pt x="194456" y="66675"/>
                  <a:pt x="228600" y="105087"/>
                  <a:pt x="228600" y="152400"/>
                </a:cubicBezTo>
                <a:cubicBezTo>
                  <a:pt x="228600" y="199713"/>
                  <a:pt x="194456" y="238125"/>
                  <a:pt x="152400" y="238125"/>
                </a:cubicBezTo>
                <a:cubicBezTo>
                  <a:pt x="110344" y="238125"/>
                  <a:pt x="76200" y="199713"/>
                  <a:pt x="76200" y="152400"/>
                </a:cubicBezTo>
                <a:close/>
                <a:moveTo>
                  <a:pt x="152400" y="114300"/>
                </a:moveTo>
                <a:cubicBezTo>
                  <a:pt x="152400" y="135315"/>
                  <a:pt x="137213" y="152400"/>
                  <a:pt x="118533" y="152400"/>
                </a:cubicBezTo>
                <a:cubicBezTo>
                  <a:pt x="112448" y="152400"/>
                  <a:pt x="106733" y="150614"/>
                  <a:pt x="101759" y="147399"/>
                </a:cubicBezTo>
                <a:cubicBezTo>
                  <a:pt x="101230" y="153888"/>
                  <a:pt x="101706" y="160556"/>
                  <a:pt x="103293" y="167164"/>
                </a:cubicBezTo>
                <a:cubicBezTo>
                  <a:pt x="110543" y="197644"/>
                  <a:pt x="138430" y="215741"/>
                  <a:pt x="165523" y="207585"/>
                </a:cubicBezTo>
                <a:cubicBezTo>
                  <a:pt x="192617" y="199430"/>
                  <a:pt x="208703" y="168057"/>
                  <a:pt x="201454" y="137577"/>
                </a:cubicBezTo>
                <a:cubicBezTo>
                  <a:pt x="194998" y="110371"/>
                  <a:pt x="172085" y="93047"/>
                  <a:pt x="147955" y="95429"/>
                </a:cubicBezTo>
                <a:cubicBezTo>
                  <a:pt x="150760" y="100965"/>
                  <a:pt x="152400" y="107394"/>
                  <a:pt x="152400" y="114300"/>
                </a:cubicBezTo>
                <a:close/>
              </a:path>
            </a:pathLst>
          </a:custGeom>
          <a:solidFill>
            <a:srgbClr val="79C0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22400" y="57531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79C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voirSolde()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6223000"/>
            <a:ext cx="6667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 = trouverClient(numero);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(pos == -1) return;</a:t>
            </a:r>
            <a:endParaRPr lang="en-US" sz="1400" dirty="0"/>
          </a:p>
          <a:p>
            <a:pPr algn="l">
              <a:lnSpc>
                <a:spcPct val="155000"/>
              </a:lnSpc>
            </a:pP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printf("Solde actuel : %.2f MAD",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banque[pos].solde);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18500" y="5588000"/>
            <a:ext cx="7175500" cy="2349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2500" y="577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de validation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72500" y="6223000"/>
            <a:ext cx="66675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2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Saisir le numéro de compte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2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Localiser avec trouverClient()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2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Vérifier le montant (positif, solde OK)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2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Mettre à jour le solde</a:t>
            </a:r>
            <a:endParaRPr lang="en-US" sz="12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2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Afficher confirmation + nouveau solde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2000" y="8382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Fonctionnalités du Système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986000" y="8382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50800" cy="406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Transfert de Fonds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8890000" cy="6477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625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Fonction transfertMontant()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1968500"/>
            <a:ext cx="8382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 </a:t>
            </a: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transfertMontant</a:t>
            </a: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int source, destination, pos1, pos2;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float montant;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printf("Numéro expéditeur : ");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scanf("%d", &amp;source);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printf("Numéro destinataire : ");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scanf("%d", &amp;destination);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pos1 = trouverClient(source);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pos2 = trouverClient(destination);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if (pos1 == -1 || pos2 == -1) return;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scanf("%f", &amp;montant);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if (montant &lt;= 0 || banque[pos1].solde &lt; montant)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return;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banque[pos1].solde -= montant;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banque[pos2].solde += montant;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33000" y="1524000"/>
            <a:ext cx="5461000" cy="6477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505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kern="0" spc="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 du transfert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350500" y="23495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Étape 1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Saisie des numéros source et destination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350500" y="3238500"/>
            <a:ext cx="4826000" cy="0"/>
          </a:xfrm>
          <a:prstGeom prst="straightConnector1">
            <a:avLst/>
          </a:prstGeom>
          <a:noFill/>
          <a:ln w="127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10350500" y="34290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Étape 2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Vérification des deux comptes via trouverClient()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350500" y="4318000"/>
            <a:ext cx="4826000" cy="0"/>
          </a:xfrm>
          <a:prstGeom prst="straightConnector1">
            <a:avLst/>
          </a:prstGeom>
          <a:noFill/>
          <a:ln w="127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10350500" y="45085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Étape 3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: montant &gt; 0 et solde suffisant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350500" y="5397500"/>
            <a:ext cx="4826000" cy="0"/>
          </a:xfrm>
          <a:prstGeom prst="straightConnector1">
            <a:avLst/>
          </a:prstGeom>
          <a:noFill/>
          <a:ln w="127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10350500" y="55880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Étape 4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Déduction source et crédit destination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6604000"/>
            <a:ext cx="5461000" cy="635000"/>
          </a:xfrm>
          <a:prstGeom prst="roundRect">
            <a:avLst>
              <a:gd name="adj" fmla="val 8000"/>
            </a:avLst>
          </a:prstGeom>
          <a:solidFill>
            <a:srgbClr val="2D6A4F">
              <a:alpha val="12549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23500" y="6667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Opération atomique : les deux soldes sont mis à jour simultanément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2000" y="8382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Fonctionnalités du Système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986000" y="8382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z27yieq4emig/mnt/agents/output/gestion_bancaire/images/4_Financial_Background_Green_Images.png"/>
          <p:cNvPicPr>
            <a:picLocks noChangeAspect="1"/>
          </p:cNvPicPr>
          <p:nvPr/>
        </p:nvPicPr>
        <p:blipFill>
          <a:blip r:embed="rId3"/>
          <a:srcRect t="391" b="39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D1117">
                  <a:alpha val="90000"/>
                </a:srgbClr>
              </a:gs>
              <a:gs pos="60000">
                <a:srgbClr val="0D1117">
                  <a:alpha val="80000"/>
                </a:srgbClr>
              </a:gs>
              <a:gs pos="100000">
                <a:srgbClr val="0D1117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kern="0" spc="400" dirty="0">
                <a:solidFill>
                  <a:srgbClr val="409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762000" y="3746500"/>
            <a:ext cx="1016000" cy="50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000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Persistance &amp; Interface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Sauvegarde des données et expérience utilisateur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50800" cy="406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Sauvegarde &amp; Chargement des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75500" cy="635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175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1065" y="0"/>
                </a:moveTo>
                <a:cubicBezTo>
                  <a:pt x="32385" y="0"/>
                  <a:pt x="17198" y="17085"/>
                  <a:pt x="17198" y="38100"/>
                </a:cubicBezTo>
                <a:lnTo>
                  <a:pt x="17198" y="266700"/>
                </a:lnTo>
                <a:cubicBezTo>
                  <a:pt x="17198" y="287715"/>
                  <a:pt x="32385" y="304800"/>
                  <a:pt x="51065" y="304800"/>
                </a:cubicBezTo>
                <a:lnTo>
                  <a:pt x="186531" y="304800"/>
                </a:lnTo>
                <a:cubicBezTo>
                  <a:pt x="205211" y="304800"/>
                  <a:pt x="220398" y="287715"/>
                  <a:pt x="220398" y="266700"/>
                </a:cubicBezTo>
                <a:lnTo>
                  <a:pt x="220398" y="209550"/>
                </a:lnTo>
                <a:lnTo>
                  <a:pt x="261726" y="209550"/>
                </a:lnTo>
                <a:lnTo>
                  <a:pt x="245322" y="228005"/>
                </a:lnTo>
                <a:cubicBezTo>
                  <a:pt x="240348" y="233601"/>
                  <a:pt x="240348" y="242649"/>
                  <a:pt x="245322" y="248186"/>
                </a:cubicBezTo>
                <a:cubicBezTo>
                  <a:pt x="250296" y="253722"/>
                  <a:pt x="258339" y="253782"/>
                  <a:pt x="263260" y="248186"/>
                </a:cubicBezTo>
                <a:lnTo>
                  <a:pt x="301360" y="205323"/>
                </a:lnTo>
                <a:cubicBezTo>
                  <a:pt x="306335" y="199727"/>
                  <a:pt x="306335" y="190679"/>
                  <a:pt x="301360" y="185142"/>
                </a:cubicBezTo>
                <a:lnTo>
                  <a:pt x="263260" y="142280"/>
                </a:lnTo>
                <a:cubicBezTo>
                  <a:pt x="258286" y="136684"/>
                  <a:pt x="250243" y="136684"/>
                  <a:pt x="245322" y="142280"/>
                </a:cubicBezTo>
                <a:cubicBezTo>
                  <a:pt x="240400" y="147876"/>
                  <a:pt x="240348" y="156924"/>
                  <a:pt x="245322" y="162461"/>
                </a:cubicBezTo>
                <a:lnTo>
                  <a:pt x="261726" y="180915"/>
                </a:lnTo>
                <a:lnTo>
                  <a:pt x="220398" y="180915"/>
                </a:lnTo>
                <a:lnTo>
                  <a:pt x="220398" y="101441"/>
                </a:lnTo>
                <a:cubicBezTo>
                  <a:pt x="220398" y="91321"/>
                  <a:pt x="216853" y="81617"/>
                  <a:pt x="210503" y="74474"/>
                </a:cubicBezTo>
                <a:lnTo>
                  <a:pt x="154093" y="11132"/>
                </a:lnTo>
                <a:cubicBezTo>
                  <a:pt x="147743" y="3989"/>
                  <a:pt x="139171" y="0"/>
                  <a:pt x="130175" y="0"/>
                </a:cubicBezTo>
                <a:lnTo>
                  <a:pt x="51065" y="0"/>
                </a:lnTo>
                <a:close/>
                <a:moveTo>
                  <a:pt x="189442" y="104775"/>
                </a:moveTo>
                <a:lnTo>
                  <a:pt x="139965" y="104775"/>
                </a:lnTo>
                <a:cubicBezTo>
                  <a:pt x="132927" y="104775"/>
                  <a:pt x="127265" y="98405"/>
                  <a:pt x="127265" y="90488"/>
                </a:cubicBezTo>
                <a:lnTo>
                  <a:pt x="127265" y="34826"/>
                </a:lnTo>
                <a:lnTo>
                  <a:pt x="189442" y="104775"/>
                </a:lnTo>
                <a:close/>
                <a:moveTo>
                  <a:pt x="118798" y="195263"/>
                </a:moveTo>
                <a:cubicBezTo>
                  <a:pt x="118798" y="187345"/>
                  <a:pt x="124460" y="180975"/>
                  <a:pt x="131498" y="180975"/>
                </a:cubicBezTo>
                <a:lnTo>
                  <a:pt x="186531" y="180975"/>
                </a:lnTo>
                <a:lnTo>
                  <a:pt x="186531" y="209550"/>
                </a:lnTo>
                <a:lnTo>
                  <a:pt x="131498" y="209550"/>
                </a:lnTo>
                <a:cubicBezTo>
                  <a:pt x="124460" y="209550"/>
                  <a:pt x="118798" y="203180"/>
                  <a:pt x="118798" y="195263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1422400" y="1727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sauvegarder() — Écriture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2222500"/>
            <a:ext cx="6667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*f = fopen("banque C.txt", "w");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(f == NULL) return;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fwrite(&amp;total, sizeof(int), 1, f);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fwrite(banque, sizeof(Client), total, f);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fclose(f);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16000" y="4889500"/>
            <a:ext cx="6667500" cy="254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508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0" y="0"/>
                </a:moveTo>
                <a:cubicBezTo>
                  <a:pt x="22781" y="0"/>
                  <a:pt x="0" y="17085"/>
                  <a:pt x="0" y="38100"/>
                </a:cubicBezTo>
                <a:lnTo>
                  <a:pt x="0" y="180975"/>
                </a:lnTo>
                <a:lnTo>
                  <a:pt x="144542" y="180975"/>
                </a:lnTo>
                <a:lnTo>
                  <a:pt x="119936" y="162520"/>
                </a:lnTo>
                <a:cubicBezTo>
                  <a:pt x="112474" y="156924"/>
                  <a:pt x="112474" y="147876"/>
                  <a:pt x="119936" y="142339"/>
                </a:cubicBezTo>
                <a:cubicBezTo>
                  <a:pt x="127397" y="136803"/>
                  <a:pt x="139462" y="136743"/>
                  <a:pt x="146844" y="142339"/>
                </a:cubicBezTo>
                <a:lnTo>
                  <a:pt x="203994" y="185202"/>
                </a:lnTo>
                <a:cubicBezTo>
                  <a:pt x="211455" y="190798"/>
                  <a:pt x="211455" y="199846"/>
                  <a:pt x="203994" y="205383"/>
                </a:cubicBezTo>
                <a:lnTo>
                  <a:pt x="146844" y="248245"/>
                </a:lnTo>
                <a:cubicBezTo>
                  <a:pt x="139383" y="253841"/>
                  <a:pt x="127318" y="253841"/>
                  <a:pt x="119936" y="248245"/>
                </a:cubicBezTo>
                <a:cubicBezTo>
                  <a:pt x="112554" y="242649"/>
                  <a:pt x="112474" y="233601"/>
                  <a:pt x="119936" y="228064"/>
                </a:cubicBezTo>
                <a:lnTo>
                  <a:pt x="144542" y="209610"/>
                </a:lnTo>
                <a:lnTo>
                  <a:pt x="0" y="209610"/>
                </a:lnTo>
                <a:lnTo>
                  <a:pt x="0" y="266760"/>
                </a:lnTo>
                <a:cubicBezTo>
                  <a:pt x="0" y="287774"/>
                  <a:pt x="22781" y="304860"/>
                  <a:pt x="50800" y="304860"/>
                </a:cubicBezTo>
                <a:lnTo>
                  <a:pt x="254000" y="304860"/>
                </a:lnTo>
                <a:cubicBezTo>
                  <a:pt x="282019" y="304860"/>
                  <a:pt x="304800" y="287774"/>
                  <a:pt x="304800" y="266760"/>
                </a:cubicBezTo>
                <a:lnTo>
                  <a:pt x="304800" y="101560"/>
                </a:lnTo>
                <a:cubicBezTo>
                  <a:pt x="304800" y="91440"/>
                  <a:pt x="299482" y="81736"/>
                  <a:pt x="289957" y="74593"/>
                </a:cubicBezTo>
                <a:lnTo>
                  <a:pt x="205343" y="11132"/>
                </a:lnTo>
                <a:cubicBezTo>
                  <a:pt x="195818" y="3989"/>
                  <a:pt x="182959" y="0"/>
                  <a:pt x="169466" y="0"/>
                </a:cubicBezTo>
                <a:lnTo>
                  <a:pt x="50800" y="0"/>
                </a:lnTo>
                <a:close/>
                <a:moveTo>
                  <a:pt x="258366" y="104775"/>
                </a:moveTo>
                <a:lnTo>
                  <a:pt x="184150" y="104775"/>
                </a:lnTo>
                <a:cubicBezTo>
                  <a:pt x="173593" y="104775"/>
                  <a:pt x="165100" y="98405"/>
                  <a:pt x="165100" y="90488"/>
                </a:cubicBezTo>
                <a:lnTo>
                  <a:pt x="165100" y="34826"/>
                </a:lnTo>
                <a:lnTo>
                  <a:pt x="258366" y="104775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1422400" y="5054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charger() — Lecture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6000" y="5524500"/>
            <a:ext cx="6667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*f = fopen("banque C.txt", "r");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(f == NULL) { total = 0; return; }</a:t>
            </a:r>
            <a:endParaRPr lang="en-US" sz="1300" dirty="0"/>
          </a:p>
          <a:p>
            <a:pPr algn="l">
              <a:lnSpc>
                <a:spcPct val="160000"/>
              </a:lnSpc>
            </a:pP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fread(&amp;total, sizeof(int), 1, f);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fread(banque, sizeof(Client), total, f);</a:t>
            </a:r>
            <a:endParaRPr lang="en-US" sz="1300" dirty="0"/>
          </a:p>
          <a:p>
            <a:pPr algn="l">
              <a:lnSpc>
                <a:spcPct val="160000"/>
              </a:lnSpc>
            </a:pP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fclose(f);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18500" y="1524000"/>
            <a:ext cx="7175500" cy="635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60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kern="0" spc="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Mécanisme de persistance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36000" y="2349500"/>
            <a:ext cx="660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 binaire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écrites et lues en binaire via fwrite() et fread(), préservant la structure mémoire exacte.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5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Séquence d'écriture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Écriture de l'entier total (nombre de comptes)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Écriture du tableau banque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5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Séquence de lecture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Lecture de total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Lecture du tableau en mémoire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5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Intégration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charger() au démarrage dans main(). sauvegarder() à la sortie (option 0) et manuellement (option 6).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2000" y="8382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Persistance &amp; Interface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986000" y="8382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50800" cy="406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Utilisateur Interactive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6604000" cy="635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625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Menu principal (menu.c)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1968500"/>
            <a:ext cx="6096000" cy="590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 {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titre();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interfaceGraphique();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printf("Votre choix : ");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scanf("%d", &amp;option);</a:t>
            </a:r>
            <a:endParaRPr lang="en-US" sz="1200" dirty="0"/>
          </a:p>
          <a:p>
            <a:pPr algn="l">
              <a:lnSpc>
                <a:spcPct val="150000"/>
              </a:lnSpc>
            </a:pP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switch (option) {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1: ajouterClient();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2: faireDepot();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3: faireRetrait();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4: voirSolde();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5: afficherClients();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6: sauvegarder();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7: charger();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8: transfertMontant();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9: supprimerCompte();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case 0: sauvegarder(); break;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default: printf("Option invalide");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while (option != 0);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47000" y="1524000"/>
            <a:ext cx="7747000" cy="635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4500" y="177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kern="0" spc="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Options du menu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64500" y="2349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2D6A4F">
              <a:alpha val="1451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5000" y="2349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[1]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Ajouter Client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84000" y="2349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2D6A4F">
              <a:alpha val="1451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74500" y="2349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[2]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Dépôt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64500" y="3111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2D6A4F">
              <a:alpha val="1451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5000" y="3111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[3]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Retrait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84000" y="3111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2D6A4F">
              <a:alpha val="1451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74500" y="3111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[4]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Solde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64500" y="3873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2D6A4F">
              <a:alpha val="1451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5000" y="3873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[5]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Liste Clients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684000" y="3873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2D6A4F">
              <a:alpha val="1451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74500" y="3873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[6]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Sauvegarder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64500" y="4635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2D6A4F">
              <a:alpha val="1451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5000" y="4635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[7]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Charger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684000" y="4635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2D6A4F">
              <a:alpha val="1451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74500" y="4635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[8]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Transfert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64500" y="5397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85149">
              <a:alpha val="12549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5000" y="5397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[9]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Supprimer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684000" y="53975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58A6FF">
              <a:alpha val="12549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74500" y="5397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[0]</a:t>
            </a: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Quitter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64500" y="6286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fonction </a:t>
            </a:r>
            <a:r>
              <a:rPr lang="en-US" sz="16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titre()</a:t>
            </a:r>
            <a:r>
              <a:rPr lang="en-US" sz="16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efface l'écran et affiche l'en-tête. </a:t>
            </a:r>
            <a:r>
              <a:rPr lang="en-US" sz="16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attendre()</a:t>
            </a:r>
            <a:r>
              <a:rPr lang="en-US" sz="16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 en pause avec getchar(). La boucle </a:t>
            </a:r>
            <a:r>
              <a:rPr lang="en-US" sz="16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do-while</a:t>
            </a:r>
            <a:r>
              <a:rPr lang="en-US" sz="16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garantit l'affichage du menu au moins une fois.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8382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Persistance &amp; Interface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986000" y="8382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50800" cy="406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 Techniques Clés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350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Technique C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Application dans le code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58A6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typedef struct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Définition du type Client avec 5 champs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Encapsulation des données d'un compte bancaire en une structure cohérente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58A6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Tableau statique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 banque[1000]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Stockage contigu en mémoire de jusqu'à 1000 clients, accès par index O(1)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58A6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Fichiers binaires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fwrite() / fread() pour sauvegarder et charger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Persistance des données entre sessions via fichier "banque C.txt"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58A6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Boucle do-while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Menu interactif avec exécution minimale garantie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Affichage du menu au moins une fois avant la condition de sortie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58A6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Switch-case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 options de menu [0-9]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Dispatch efficace vers la fonction correspondante selon le choix utilisateur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58A6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Fonctions modulaires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13 fonctions indépendantes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Séparation des responsabilités : interface, opérations métier, persistance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58A6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Gestion d'erreurs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Vérifications de saisie et de solde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Validation des montants (positifs), vérification des fonds suffisants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58A6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Manipulation de chaînes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fgets(), strcspn(), scanf()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6EDF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Saisie sécurisée du prénom, suppression du caractère de newline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8382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Persistance &amp; Interface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986000" y="8382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z27yieq4emig/mnt/agents/output/gestion_bancaire/images/5_Green_finance_background_Images_Free.png"/>
          <p:cNvPicPr>
            <a:picLocks noChangeAspect="1"/>
          </p:cNvPicPr>
          <p:nvPr/>
        </p:nvPicPr>
        <p:blipFill>
          <a:blip r:embed="rId3"/>
          <a:srcRect t="7869" b="786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D1117">
                  <a:alpha val="13000"/>
                </a:srgbClr>
              </a:gs>
              <a:gs pos="40000">
                <a:srgbClr val="0D1117">
                  <a:alpha val="63000"/>
                </a:srgbClr>
              </a:gs>
              <a:gs pos="100000">
                <a:srgbClr val="0D1117">
                  <a:alpha val="91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232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84202" y="6072"/>
                </a:moveTo>
                <a:cubicBezTo>
                  <a:pt x="296704" y="-2024"/>
                  <a:pt x="312896" y="-2024"/>
                  <a:pt x="325398" y="6072"/>
                </a:cubicBezTo>
                <a:lnTo>
                  <a:pt x="592098" y="177522"/>
                </a:lnTo>
                <a:cubicBezTo>
                  <a:pt x="606266" y="186690"/>
                  <a:pt x="612815" y="204073"/>
                  <a:pt x="608052" y="220266"/>
                </a:cubicBezTo>
                <a:cubicBezTo>
                  <a:pt x="603290" y="236458"/>
                  <a:pt x="588407" y="247650"/>
                  <a:pt x="571500" y="247650"/>
                </a:cubicBezTo>
                <a:lnTo>
                  <a:pt x="533400" y="247650"/>
                </a:lnTo>
                <a:lnTo>
                  <a:pt x="533400" y="495300"/>
                </a:lnTo>
                <a:lnTo>
                  <a:pt x="594360" y="541020"/>
                </a:lnTo>
                <a:cubicBezTo>
                  <a:pt x="604004" y="548164"/>
                  <a:pt x="609600" y="559475"/>
                  <a:pt x="609600" y="571500"/>
                </a:cubicBezTo>
                <a:cubicBezTo>
                  <a:pt x="609600" y="592574"/>
                  <a:pt x="592574" y="609600"/>
                  <a:pt x="571500" y="609600"/>
                </a:cubicBezTo>
                <a:lnTo>
                  <a:pt x="38100" y="609600"/>
                </a:lnTo>
                <a:cubicBezTo>
                  <a:pt x="17026" y="609600"/>
                  <a:pt x="0" y="592574"/>
                  <a:pt x="0" y="571500"/>
                </a:cubicBezTo>
                <a:cubicBezTo>
                  <a:pt x="0" y="559475"/>
                  <a:pt x="5596" y="548164"/>
                  <a:pt x="15240" y="541020"/>
                </a:cubicBezTo>
                <a:lnTo>
                  <a:pt x="76200" y="495300"/>
                </a:lnTo>
                <a:lnTo>
                  <a:pt x="76200" y="495300"/>
                </a:lnTo>
                <a:lnTo>
                  <a:pt x="76200" y="247650"/>
                </a:lnTo>
                <a:lnTo>
                  <a:pt x="38100" y="247650"/>
                </a:lnTo>
                <a:cubicBezTo>
                  <a:pt x="21193" y="247650"/>
                  <a:pt x="6310" y="236458"/>
                  <a:pt x="1548" y="220266"/>
                </a:cubicBezTo>
                <a:cubicBezTo>
                  <a:pt x="-3215" y="204073"/>
                  <a:pt x="3334" y="186571"/>
                  <a:pt x="17502" y="177522"/>
                </a:cubicBezTo>
                <a:lnTo>
                  <a:pt x="284202" y="6072"/>
                </a:lnTo>
                <a:close/>
                <a:moveTo>
                  <a:pt x="400050" y="247650"/>
                </a:moveTo>
                <a:lnTo>
                  <a:pt x="400050" y="495300"/>
                </a:lnTo>
                <a:lnTo>
                  <a:pt x="476250" y="495300"/>
                </a:lnTo>
                <a:lnTo>
                  <a:pt x="476250" y="247650"/>
                </a:lnTo>
                <a:lnTo>
                  <a:pt x="400050" y="247650"/>
                </a:lnTo>
                <a:close/>
                <a:moveTo>
                  <a:pt x="266700" y="495300"/>
                </a:moveTo>
                <a:lnTo>
                  <a:pt x="342900" y="495300"/>
                </a:lnTo>
                <a:lnTo>
                  <a:pt x="342900" y="247650"/>
                </a:lnTo>
                <a:lnTo>
                  <a:pt x="266700" y="247650"/>
                </a:lnTo>
                <a:lnTo>
                  <a:pt x="266700" y="495300"/>
                </a:lnTo>
                <a:close/>
                <a:moveTo>
                  <a:pt x="133350" y="247650"/>
                </a:moveTo>
                <a:lnTo>
                  <a:pt x="133350" y="495300"/>
                </a:lnTo>
                <a:lnTo>
                  <a:pt x="209550" y="495300"/>
                </a:lnTo>
                <a:lnTo>
                  <a:pt x="209550" y="247650"/>
                </a:lnTo>
                <a:lnTo>
                  <a:pt x="133350" y="247650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0" y="3619500"/>
            <a:ext cx="2540000" cy="25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38735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kern="0" spc="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6858000" y="4889500"/>
            <a:ext cx="2540000" cy="25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5"/>
          <p:cNvSpPr/>
          <p:nvPr/>
        </p:nvSpPr>
        <p:spPr>
          <a:xfrm>
            <a:off x="3683000" y="5143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de Gestion Bancaire — Projet en Langage C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953000" y="584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1627</Words>
  <Application>Microsoft Office PowerPoint</Application>
  <PresentationFormat>Personnalisé</PresentationFormat>
  <Paragraphs>299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Liter</vt:lpstr>
      <vt:lpstr>Quattrocento Sans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 Gestion Bancaire en C</dc:title>
  <dc:subject>Application de Gestion Bancaire en C</dc:subject>
  <dc:creator>Kimi</dc:creator>
  <cp:lastModifiedBy>Alpha Ousmane Diallo</cp:lastModifiedBy>
  <cp:revision>2</cp:revision>
  <dcterms:created xsi:type="dcterms:W3CDTF">2026-06-24T10:20:30Z</dcterms:created>
  <dcterms:modified xsi:type="dcterms:W3CDTF">2026-06-29T01:22:36Z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{"Label":"Application de Gestion Bancaire en C","ContentProducer":"001191110108MACG2KBH8F10000","ProduceID":"19ef9173-2162-87f5-8000-000000700b35","ReservedCode1":"","ContentPropagator":"001191110108MACG2KBH8F20000","PropagateID":"19ef9157-d202-86ed-8000-090703d63eba","ReservedCode2":""}</vt:lpwstr>
  </property>
</Properties>
</file>